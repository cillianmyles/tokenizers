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20574000" cy="10287000"/>
  <p:notesSz cx="6858000" cy="9144000"/>
  <p:embeddedFontLst>
    <p:embeddedFont>
      <p:font typeface="Orgon-Medium" panose="02000603000000020004" charset="0"/>
      <p:regular r:id="rId3"/>
    </p:embeddedFont>
    <p:embeddedFont>
      <p:font typeface="Orgon-Regular" panose="02000503000000020004" charset="0"/>
      <p:regular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71A5AE-28DE-F391-A1FE-D6B440268355}" v="163" dt="2026-04-14T12:25:23.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0" d="100"/>
          <a:sy n="60" d="100"/>
        </p:scale>
        <p:origin x="28" y="3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font" Target="fonts/font2.fntdata"/><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795226" cy="8909213"/>
          </a:xfrm>
          <a:custGeom>
            <a:avLst/>
            <a:gdLst/>
            <a:ahLst/>
            <a:cxnLst/>
            <a:rect l="l" t="t" r="r" b="b"/>
            <a:pathLst>
              <a:path w="20795226" h="8909213">
                <a:moveTo>
                  <a:pt x="0" y="0"/>
                </a:moveTo>
                <a:lnTo>
                  <a:pt x="20795226" y="0"/>
                </a:lnTo>
                <a:lnTo>
                  <a:pt x="20795226" y="8909213"/>
                </a:lnTo>
                <a:lnTo>
                  <a:pt x="0" y="8909213"/>
                </a:lnTo>
                <a:lnTo>
                  <a:pt x="0" y="0"/>
                </a:lnTo>
                <a:close/>
              </a:path>
            </a:pathLst>
          </a:custGeom>
          <a:blipFill>
            <a:blip r:embed="rId2"/>
            <a:stretch>
              <a:fillRect t="-10452" b="-20841"/>
            </a:stretch>
          </a:blipFill>
        </p:spPr>
        <p:txBody>
          <a:bodyPr/>
          <a:lstStyle/>
          <a:p>
            <a:endParaRPr lang="en-IE"/>
          </a:p>
        </p:txBody>
      </p:sp>
      <p:sp>
        <p:nvSpPr>
          <p:cNvPr id="3" name="Freeform 3"/>
          <p:cNvSpPr/>
          <p:nvPr/>
        </p:nvSpPr>
        <p:spPr>
          <a:xfrm>
            <a:off x="1188095" y="868856"/>
            <a:ext cx="2811588" cy="1234463"/>
          </a:xfrm>
          <a:custGeom>
            <a:avLst/>
            <a:gdLst/>
            <a:ahLst/>
            <a:cxnLst/>
            <a:rect l="l" t="t" r="r" b="b"/>
            <a:pathLst>
              <a:path w="2811588" h="1234463">
                <a:moveTo>
                  <a:pt x="0" y="0"/>
                </a:moveTo>
                <a:lnTo>
                  <a:pt x="2811588" y="0"/>
                </a:lnTo>
                <a:lnTo>
                  <a:pt x="2811588" y="1234463"/>
                </a:lnTo>
                <a:lnTo>
                  <a:pt x="0" y="1234463"/>
                </a:lnTo>
                <a:lnTo>
                  <a:pt x="0" y="0"/>
                </a:lnTo>
                <a:close/>
              </a:path>
            </a:pathLst>
          </a:custGeom>
          <a:blipFill>
            <a:blip r:embed="rId3"/>
            <a:stretch>
              <a:fillRect/>
            </a:stretch>
          </a:blipFill>
        </p:spPr>
        <p:txBody>
          <a:bodyPr/>
          <a:lstStyle/>
          <a:p>
            <a:endParaRPr lang="en-IE"/>
          </a:p>
        </p:txBody>
      </p:sp>
      <p:sp>
        <p:nvSpPr>
          <p:cNvPr id="4" name="Freeform 4"/>
          <p:cNvSpPr/>
          <p:nvPr/>
        </p:nvSpPr>
        <p:spPr>
          <a:xfrm>
            <a:off x="16630144" y="868856"/>
            <a:ext cx="2976987" cy="1607573"/>
          </a:xfrm>
          <a:custGeom>
            <a:avLst/>
            <a:gdLst/>
            <a:ahLst/>
            <a:cxnLst/>
            <a:rect l="l" t="t" r="r" b="b"/>
            <a:pathLst>
              <a:path w="2976987" h="1607573">
                <a:moveTo>
                  <a:pt x="0" y="0"/>
                </a:moveTo>
                <a:lnTo>
                  <a:pt x="2976987" y="0"/>
                </a:lnTo>
                <a:lnTo>
                  <a:pt x="2976987" y="1607573"/>
                </a:lnTo>
                <a:lnTo>
                  <a:pt x="0" y="1607573"/>
                </a:lnTo>
                <a:lnTo>
                  <a:pt x="0" y="0"/>
                </a:lnTo>
                <a:close/>
              </a:path>
            </a:pathLst>
          </a:custGeom>
          <a:blipFill>
            <a:blip r:embed="rId4"/>
            <a:stretch>
              <a:fillRect/>
            </a:stretch>
          </a:blipFill>
        </p:spPr>
        <p:txBody>
          <a:bodyPr/>
          <a:lstStyle/>
          <a:p>
            <a:endParaRPr lang="en-IE"/>
          </a:p>
        </p:txBody>
      </p:sp>
      <p:sp>
        <p:nvSpPr>
          <p:cNvPr id="5" name="Freeform 5"/>
          <p:cNvSpPr/>
          <p:nvPr/>
        </p:nvSpPr>
        <p:spPr>
          <a:xfrm>
            <a:off x="15049491" y="9239454"/>
            <a:ext cx="2041843" cy="821606"/>
          </a:xfrm>
          <a:custGeom>
            <a:avLst/>
            <a:gdLst/>
            <a:ahLst/>
            <a:cxnLst/>
            <a:rect l="l" t="t" r="r" b="b"/>
            <a:pathLst>
              <a:path w="2041843" h="821606">
                <a:moveTo>
                  <a:pt x="0" y="0"/>
                </a:moveTo>
                <a:lnTo>
                  <a:pt x="2041843" y="0"/>
                </a:lnTo>
                <a:lnTo>
                  <a:pt x="2041843" y="821606"/>
                </a:lnTo>
                <a:lnTo>
                  <a:pt x="0" y="821606"/>
                </a:lnTo>
                <a:lnTo>
                  <a:pt x="0" y="0"/>
                </a:lnTo>
                <a:close/>
              </a:path>
            </a:pathLst>
          </a:custGeom>
          <a:blipFill>
            <a:blip r:embed="rId5"/>
            <a:stretch>
              <a:fillRect/>
            </a:stretch>
          </a:blipFill>
        </p:spPr>
        <p:txBody>
          <a:bodyPr/>
          <a:lstStyle/>
          <a:p>
            <a:endParaRPr lang="en-IE"/>
          </a:p>
        </p:txBody>
      </p:sp>
      <p:sp>
        <p:nvSpPr>
          <p:cNvPr id="6" name="Freeform 6"/>
          <p:cNvSpPr/>
          <p:nvPr/>
        </p:nvSpPr>
        <p:spPr>
          <a:xfrm>
            <a:off x="229616" y="9334611"/>
            <a:ext cx="2767514" cy="631292"/>
          </a:xfrm>
          <a:custGeom>
            <a:avLst/>
            <a:gdLst/>
            <a:ahLst/>
            <a:cxnLst/>
            <a:rect l="l" t="t" r="r" b="b"/>
            <a:pathLst>
              <a:path w="2767514" h="631292">
                <a:moveTo>
                  <a:pt x="0" y="0"/>
                </a:moveTo>
                <a:lnTo>
                  <a:pt x="2767515" y="0"/>
                </a:lnTo>
                <a:lnTo>
                  <a:pt x="2767515" y="631292"/>
                </a:lnTo>
                <a:lnTo>
                  <a:pt x="0" y="631292"/>
                </a:lnTo>
                <a:lnTo>
                  <a:pt x="0" y="0"/>
                </a:lnTo>
                <a:close/>
              </a:path>
            </a:pathLst>
          </a:custGeom>
          <a:blipFill>
            <a:blip r:embed="rId6"/>
            <a:stretch>
              <a:fillRect/>
            </a:stretch>
          </a:blipFill>
        </p:spPr>
        <p:txBody>
          <a:bodyPr/>
          <a:lstStyle/>
          <a:p>
            <a:endParaRPr lang="en-IE"/>
          </a:p>
        </p:txBody>
      </p:sp>
      <p:sp>
        <p:nvSpPr>
          <p:cNvPr id="7" name="Freeform 7"/>
          <p:cNvSpPr/>
          <p:nvPr/>
        </p:nvSpPr>
        <p:spPr>
          <a:xfrm>
            <a:off x="17348610" y="9259685"/>
            <a:ext cx="2888394" cy="781145"/>
          </a:xfrm>
          <a:custGeom>
            <a:avLst/>
            <a:gdLst/>
            <a:ahLst/>
            <a:cxnLst/>
            <a:rect l="l" t="t" r="r" b="b"/>
            <a:pathLst>
              <a:path w="2888394" h="781145">
                <a:moveTo>
                  <a:pt x="0" y="0"/>
                </a:moveTo>
                <a:lnTo>
                  <a:pt x="2888393" y="0"/>
                </a:lnTo>
                <a:lnTo>
                  <a:pt x="2888393" y="781145"/>
                </a:lnTo>
                <a:lnTo>
                  <a:pt x="0" y="781145"/>
                </a:lnTo>
                <a:lnTo>
                  <a:pt x="0" y="0"/>
                </a:lnTo>
                <a:close/>
              </a:path>
            </a:pathLst>
          </a:custGeom>
          <a:blipFill>
            <a:blip r:embed="rId7"/>
            <a:stretch>
              <a:fillRect/>
            </a:stretch>
          </a:blipFill>
        </p:spPr>
        <p:txBody>
          <a:bodyPr/>
          <a:lstStyle/>
          <a:p>
            <a:endParaRPr lang="en-IE"/>
          </a:p>
        </p:txBody>
      </p:sp>
      <p:sp>
        <p:nvSpPr>
          <p:cNvPr id="8" name="Freeform 8"/>
          <p:cNvSpPr/>
          <p:nvPr/>
        </p:nvSpPr>
        <p:spPr>
          <a:xfrm>
            <a:off x="8307127" y="9192060"/>
            <a:ext cx="2321060" cy="916394"/>
          </a:xfrm>
          <a:custGeom>
            <a:avLst/>
            <a:gdLst/>
            <a:ahLst/>
            <a:cxnLst/>
            <a:rect l="l" t="t" r="r" b="b"/>
            <a:pathLst>
              <a:path w="2321060" h="916394">
                <a:moveTo>
                  <a:pt x="0" y="0"/>
                </a:moveTo>
                <a:lnTo>
                  <a:pt x="2321060" y="0"/>
                </a:lnTo>
                <a:lnTo>
                  <a:pt x="2321060" y="916394"/>
                </a:lnTo>
                <a:lnTo>
                  <a:pt x="0" y="916394"/>
                </a:lnTo>
                <a:lnTo>
                  <a:pt x="0" y="0"/>
                </a:lnTo>
                <a:close/>
              </a:path>
            </a:pathLst>
          </a:custGeom>
          <a:blipFill>
            <a:blip r:embed="rId8"/>
            <a:stretch>
              <a:fillRect/>
            </a:stretch>
          </a:blipFill>
        </p:spPr>
        <p:txBody>
          <a:bodyPr/>
          <a:lstStyle/>
          <a:p>
            <a:endParaRPr lang="en-IE"/>
          </a:p>
        </p:txBody>
      </p:sp>
      <p:sp>
        <p:nvSpPr>
          <p:cNvPr id="9" name="Freeform 9"/>
          <p:cNvSpPr/>
          <p:nvPr/>
        </p:nvSpPr>
        <p:spPr>
          <a:xfrm>
            <a:off x="10885462" y="9033135"/>
            <a:ext cx="1950545" cy="1234243"/>
          </a:xfrm>
          <a:custGeom>
            <a:avLst/>
            <a:gdLst/>
            <a:ahLst/>
            <a:cxnLst/>
            <a:rect l="l" t="t" r="r" b="b"/>
            <a:pathLst>
              <a:path w="1950545" h="1234243">
                <a:moveTo>
                  <a:pt x="0" y="0"/>
                </a:moveTo>
                <a:lnTo>
                  <a:pt x="1950545" y="0"/>
                </a:lnTo>
                <a:lnTo>
                  <a:pt x="1950545" y="1234244"/>
                </a:lnTo>
                <a:lnTo>
                  <a:pt x="0" y="1234244"/>
                </a:lnTo>
                <a:lnTo>
                  <a:pt x="0" y="0"/>
                </a:lnTo>
                <a:close/>
              </a:path>
            </a:pathLst>
          </a:custGeom>
          <a:blipFill>
            <a:blip r:embed="rId9"/>
            <a:stretch>
              <a:fillRect/>
            </a:stretch>
          </a:blipFill>
        </p:spPr>
        <p:txBody>
          <a:bodyPr/>
          <a:lstStyle/>
          <a:p>
            <a:endParaRPr lang="en-IE"/>
          </a:p>
        </p:txBody>
      </p:sp>
      <p:sp>
        <p:nvSpPr>
          <p:cNvPr id="10" name="Freeform 10"/>
          <p:cNvSpPr/>
          <p:nvPr/>
        </p:nvSpPr>
        <p:spPr>
          <a:xfrm>
            <a:off x="5571261" y="9084998"/>
            <a:ext cx="2478591" cy="1130518"/>
          </a:xfrm>
          <a:custGeom>
            <a:avLst/>
            <a:gdLst/>
            <a:ahLst/>
            <a:cxnLst/>
            <a:rect l="l" t="t" r="r" b="b"/>
            <a:pathLst>
              <a:path w="2478591" h="1130518">
                <a:moveTo>
                  <a:pt x="0" y="0"/>
                </a:moveTo>
                <a:lnTo>
                  <a:pt x="2478590" y="0"/>
                </a:lnTo>
                <a:lnTo>
                  <a:pt x="2478590" y="1130518"/>
                </a:lnTo>
                <a:lnTo>
                  <a:pt x="0" y="1130518"/>
                </a:lnTo>
                <a:lnTo>
                  <a:pt x="0" y="0"/>
                </a:lnTo>
                <a:close/>
              </a:path>
            </a:pathLst>
          </a:custGeom>
          <a:blipFill>
            <a:blip r:embed="rId10"/>
            <a:stretch>
              <a:fillRect l="-13673" t="-25593" r="-9236" b="-25984"/>
            </a:stretch>
          </a:blipFill>
        </p:spPr>
        <p:txBody>
          <a:bodyPr/>
          <a:lstStyle/>
          <a:p>
            <a:endParaRPr lang="en-IE"/>
          </a:p>
        </p:txBody>
      </p:sp>
      <p:sp>
        <p:nvSpPr>
          <p:cNvPr id="11" name="Freeform 11"/>
          <p:cNvSpPr/>
          <p:nvPr/>
        </p:nvSpPr>
        <p:spPr>
          <a:xfrm>
            <a:off x="13093283" y="9146714"/>
            <a:ext cx="1698933" cy="1007087"/>
          </a:xfrm>
          <a:custGeom>
            <a:avLst/>
            <a:gdLst/>
            <a:ahLst/>
            <a:cxnLst/>
            <a:rect l="l" t="t" r="r" b="b"/>
            <a:pathLst>
              <a:path w="1698933" h="1007087">
                <a:moveTo>
                  <a:pt x="0" y="0"/>
                </a:moveTo>
                <a:lnTo>
                  <a:pt x="1698933" y="0"/>
                </a:lnTo>
                <a:lnTo>
                  <a:pt x="1698933" y="1007086"/>
                </a:lnTo>
                <a:lnTo>
                  <a:pt x="0" y="1007086"/>
                </a:lnTo>
                <a:lnTo>
                  <a:pt x="0" y="0"/>
                </a:lnTo>
                <a:close/>
              </a:path>
            </a:pathLst>
          </a:custGeom>
          <a:blipFill>
            <a:blip r:embed="rId11"/>
            <a:stretch>
              <a:fillRect l="-7884" t="-12386" r="-10365"/>
            </a:stretch>
          </a:blipFill>
        </p:spPr>
        <p:txBody>
          <a:bodyPr/>
          <a:lstStyle/>
          <a:p>
            <a:endParaRPr lang="en-IE"/>
          </a:p>
        </p:txBody>
      </p:sp>
      <p:sp>
        <p:nvSpPr>
          <p:cNvPr id="12" name="Freeform 12"/>
          <p:cNvSpPr/>
          <p:nvPr/>
        </p:nvSpPr>
        <p:spPr>
          <a:xfrm>
            <a:off x="3254406" y="9078912"/>
            <a:ext cx="2059579" cy="1142690"/>
          </a:xfrm>
          <a:custGeom>
            <a:avLst/>
            <a:gdLst/>
            <a:ahLst/>
            <a:cxnLst/>
            <a:rect l="l" t="t" r="r" b="b"/>
            <a:pathLst>
              <a:path w="2059579" h="1142690">
                <a:moveTo>
                  <a:pt x="0" y="0"/>
                </a:moveTo>
                <a:lnTo>
                  <a:pt x="2059579" y="0"/>
                </a:lnTo>
                <a:lnTo>
                  <a:pt x="2059579" y="1142690"/>
                </a:lnTo>
                <a:lnTo>
                  <a:pt x="0" y="1142690"/>
                </a:lnTo>
                <a:lnTo>
                  <a:pt x="0" y="0"/>
                </a:lnTo>
                <a:close/>
              </a:path>
            </a:pathLst>
          </a:custGeom>
          <a:blipFill>
            <a:blip r:embed="rId12"/>
            <a:stretch>
              <a:fillRect/>
            </a:stretch>
          </a:blipFill>
        </p:spPr>
        <p:txBody>
          <a:bodyPr/>
          <a:lstStyle/>
          <a:p>
            <a:endParaRPr lang="en-IE"/>
          </a:p>
        </p:txBody>
      </p:sp>
      <p:sp>
        <p:nvSpPr>
          <p:cNvPr id="13" name="Freeform 13"/>
          <p:cNvSpPr/>
          <p:nvPr/>
        </p:nvSpPr>
        <p:spPr>
          <a:xfrm>
            <a:off x="626946" y="4537315"/>
            <a:ext cx="9374079" cy="3801100"/>
          </a:xfrm>
          <a:custGeom>
            <a:avLst/>
            <a:gdLst/>
            <a:ahLst/>
            <a:cxnLst/>
            <a:rect l="l" t="t" r="r" b="b"/>
            <a:pathLst>
              <a:path w="9374079" h="3801100">
                <a:moveTo>
                  <a:pt x="0" y="0"/>
                </a:moveTo>
                <a:lnTo>
                  <a:pt x="9374078" y="0"/>
                </a:lnTo>
                <a:lnTo>
                  <a:pt x="9374078" y="3801100"/>
                </a:lnTo>
                <a:lnTo>
                  <a:pt x="0" y="3801100"/>
                </a:lnTo>
                <a:lnTo>
                  <a:pt x="0" y="0"/>
                </a:lnTo>
                <a:close/>
              </a:path>
            </a:pathLst>
          </a:custGeom>
          <a:blipFill>
            <a:blip r:embed="rId13"/>
            <a:stretch>
              <a:fillRect t="-37436" b="-37436"/>
            </a:stretch>
          </a:blipFill>
        </p:spPr>
        <p:txBody>
          <a:bodyPr/>
          <a:lstStyle/>
          <a:p>
            <a:endParaRPr lang="en-IE"/>
          </a:p>
        </p:txBody>
      </p:sp>
      <p:sp>
        <p:nvSpPr>
          <p:cNvPr id="14" name="TextBox 14"/>
          <p:cNvSpPr txBox="1"/>
          <p:nvPr/>
        </p:nvSpPr>
        <p:spPr>
          <a:xfrm>
            <a:off x="7451675" y="911956"/>
            <a:ext cx="6061414" cy="1296773"/>
          </a:xfrm>
          <a:prstGeom prst="rect">
            <a:avLst/>
          </a:prstGeom>
        </p:spPr>
        <p:txBody>
          <a:bodyPr lIns="0" tIns="0" rIns="0" bIns="0" rtlCol="0" anchor="t">
            <a:spAutoFit/>
          </a:bodyPr>
          <a:lstStyle/>
          <a:p>
            <a:pPr algn="ctr">
              <a:lnSpc>
                <a:spcPts val="4663"/>
              </a:lnSpc>
            </a:pPr>
            <a:r>
              <a:rPr lang="en-US" sz="4020">
                <a:solidFill>
                  <a:srgbClr val="FFFFFF"/>
                </a:solidFill>
                <a:latin typeface="Orgon-Medium"/>
                <a:ea typeface="Orgon-Medium"/>
                <a:cs typeface="Orgon-Medium"/>
                <a:sym typeface="Orgon-Medium"/>
              </a:rPr>
              <a:t>AtlanTec        Challenge </a:t>
            </a:r>
          </a:p>
          <a:p>
            <a:pPr algn="ctr">
              <a:lnSpc>
                <a:spcPts val="4663"/>
              </a:lnSpc>
            </a:pPr>
            <a:r>
              <a:rPr lang="en-US" sz="4020">
                <a:solidFill>
                  <a:srgbClr val="FFFFFF"/>
                </a:solidFill>
                <a:latin typeface="Orgon-Medium"/>
                <a:ea typeface="Orgon-Medium"/>
                <a:cs typeface="Orgon-Medium"/>
                <a:sym typeface="Orgon-Medium"/>
              </a:rPr>
              <a:t>2026</a:t>
            </a:r>
          </a:p>
        </p:txBody>
      </p:sp>
      <p:sp>
        <p:nvSpPr>
          <p:cNvPr id="15" name="TextBox 15"/>
          <p:cNvSpPr txBox="1"/>
          <p:nvPr/>
        </p:nvSpPr>
        <p:spPr>
          <a:xfrm>
            <a:off x="10003998" y="829416"/>
            <a:ext cx="596105" cy="976577"/>
          </a:xfrm>
          <a:prstGeom prst="rect">
            <a:avLst/>
          </a:prstGeom>
        </p:spPr>
        <p:txBody>
          <a:bodyPr lIns="0" tIns="0" rIns="0" bIns="0" rtlCol="0" anchor="t">
            <a:spAutoFit/>
          </a:bodyPr>
          <a:lstStyle/>
          <a:p>
            <a:pPr algn="just">
              <a:lnSpc>
                <a:spcPts val="6963"/>
              </a:lnSpc>
              <a:spcBef>
                <a:spcPct val="0"/>
              </a:spcBef>
            </a:pPr>
            <a:r>
              <a:rPr lang="en-US" sz="4974">
                <a:solidFill>
                  <a:srgbClr val="0BDBF4"/>
                </a:solidFill>
                <a:latin typeface="Orgon-Medium"/>
                <a:ea typeface="Orgon-Medium"/>
                <a:cs typeface="Orgon-Medium"/>
                <a:sym typeface="Orgon-Medium"/>
              </a:rPr>
              <a:t>AI</a:t>
            </a:r>
          </a:p>
        </p:txBody>
      </p:sp>
      <p:sp>
        <p:nvSpPr>
          <p:cNvPr id="16" name="TextBox 16"/>
          <p:cNvSpPr txBox="1"/>
          <p:nvPr/>
        </p:nvSpPr>
        <p:spPr>
          <a:xfrm>
            <a:off x="8775761" y="2246830"/>
            <a:ext cx="3341268" cy="373473"/>
          </a:xfrm>
          <a:prstGeom prst="rect">
            <a:avLst/>
          </a:prstGeom>
        </p:spPr>
        <p:txBody>
          <a:bodyPr lIns="0" tIns="0" rIns="0" bIns="0" rtlCol="0" anchor="t">
            <a:spAutoFit/>
          </a:bodyPr>
          <a:lstStyle/>
          <a:p>
            <a:pPr algn="ctr">
              <a:lnSpc>
                <a:spcPts val="2656"/>
              </a:lnSpc>
              <a:spcBef>
                <a:spcPct val="0"/>
              </a:spcBef>
            </a:pPr>
            <a:r>
              <a:rPr lang="en-US" sz="1897">
                <a:solidFill>
                  <a:srgbClr val="FFFFFF"/>
                </a:solidFill>
                <a:latin typeface="Orgon-Regular"/>
                <a:ea typeface="Orgon-Regular"/>
                <a:cs typeface="Orgon-Regular"/>
                <a:sym typeface="Orgon-Regular"/>
              </a:rPr>
              <a:t>17th April 2026 </a:t>
            </a:r>
          </a:p>
        </p:txBody>
      </p:sp>
      <p:sp>
        <p:nvSpPr>
          <p:cNvPr id="17" name="TextBox 17"/>
          <p:cNvSpPr txBox="1"/>
          <p:nvPr/>
        </p:nvSpPr>
        <p:spPr>
          <a:xfrm>
            <a:off x="911352" y="2784409"/>
            <a:ext cx="1413358" cy="370901"/>
          </a:xfrm>
          <a:prstGeom prst="rect">
            <a:avLst/>
          </a:prstGeom>
        </p:spPr>
        <p:txBody>
          <a:bodyPr lIns="0" tIns="0" rIns="0" bIns="0" rtlCol="0" anchor="t">
            <a:spAutoFit/>
          </a:bodyPr>
          <a:lstStyle/>
          <a:p>
            <a:pPr algn="l">
              <a:lnSpc>
                <a:spcPts val="2656"/>
              </a:lnSpc>
              <a:spcBef>
                <a:spcPct val="0"/>
              </a:spcBef>
            </a:pPr>
            <a:r>
              <a:rPr lang="en-US" sz="1897">
                <a:solidFill>
                  <a:srgbClr val="FFFFFF"/>
                </a:solidFill>
                <a:latin typeface="Orgon-Regular"/>
                <a:ea typeface="Orgon-Regular"/>
                <a:cs typeface="Orgon-Regular"/>
                <a:sym typeface="Orgon-Regular"/>
              </a:rPr>
              <a:t>TEAM NAME:</a:t>
            </a:r>
          </a:p>
        </p:txBody>
      </p:sp>
      <p:sp>
        <p:nvSpPr>
          <p:cNvPr id="18" name="Freeform 18"/>
          <p:cNvSpPr/>
          <p:nvPr/>
        </p:nvSpPr>
        <p:spPr>
          <a:xfrm>
            <a:off x="10885462" y="4537315"/>
            <a:ext cx="9350443" cy="3801100"/>
          </a:xfrm>
          <a:custGeom>
            <a:avLst/>
            <a:gdLst/>
            <a:ahLst/>
            <a:cxnLst/>
            <a:rect l="l" t="t" r="r" b="b"/>
            <a:pathLst>
              <a:path w="9350443" h="3801100">
                <a:moveTo>
                  <a:pt x="0" y="0"/>
                </a:moveTo>
                <a:lnTo>
                  <a:pt x="9350443" y="0"/>
                </a:lnTo>
                <a:lnTo>
                  <a:pt x="9350443" y="3801100"/>
                </a:lnTo>
                <a:lnTo>
                  <a:pt x="0" y="3801100"/>
                </a:lnTo>
                <a:lnTo>
                  <a:pt x="0" y="0"/>
                </a:lnTo>
                <a:close/>
              </a:path>
            </a:pathLst>
          </a:custGeom>
          <a:blipFill>
            <a:blip r:embed="rId13"/>
            <a:stretch>
              <a:fillRect t="-37215" b="-37215"/>
            </a:stretch>
          </a:blipFill>
        </p:spPr>
        <p:txBody>
          <a:bodyPr/>
          <a:lstStyle/>
          <a:p>
            <a:endParaRPr lang="en-IE"/>
          </a:p>
        </p:txBody>
      </p:sp>
      <p:sp>
        <p:nvSpPr>
          <p:cNvPr id="19" name="TextBox 19"/>
          <p:cNvSpPr txBox="1"/>
          <p:nvPr/>
        </p:nvSpPr>
        <p:spPr>
          <a:xfrm>
            <a:off x="746179" y="3898444"/>
            <a:ext cx="3341268" cy="515046"/>
          </a:xfrm>
          <a:prstGeom prst="rect">
            <a:avLst/>
          </a:prstGeom>
        </p:spPr>
        <p:txBody>
          <a:bodyPr lIns="0" tIns="0" rIns="0" bIns="0" rtlCol="0" anchor="t">
            <a:spAutoFit/>
          </a:bodyPr>
          <a:lstStyle/>
          <a:p>
            <a:pPr algn="l">
              <a:lnSpc>
                <a:spcPts val="3636"/>
              </a:lnSpc>
              <a:spcBef>
                <a:spcPct val="0"/>
              </a:spcBef>
            </a:pPr>
            <a:r>
              <a:rPr lang="en-US" sz="2597">
                <a:solidFill>
                  <a:srgbClr val="FFFFFF"/>
                </a:solidFill>
                <a:latin typeface="Orgon-Regular"/>
                <a:ea typeface="Orgon-Regular"/>
                <a:cs typeface="Orgon-Regular"/>
                <a:sym typeface="Orgon-Regular"/>
              </a:rPr>
              <a:t>PROJECT</a:t>
            </a:r>
          </a:p>
        </p:txBody>
      </p:sp>
      <p:sp>
        <p:nvSpPr>
          <p:cNvPr id="20" name="TextBox 20"/>
          <p:cNvSpPr txBox="1"/>
          <p:nvPr/>
        </p:nvSpPr>
        <p:spPr>
          <a:xfrm>
            <a:off x="10885462" y="3898444"/>
            <a:ext cx="3341268" cy="515046"/>
          </a:xfrm>
          <a:prstGeom prst="rect">
            <a:avLst/>
          </a:prstGeom>
        </p:spPr>
        <p:txBody>
          <a:bodyPr lIns="0" tIns="0" rIns="0" bIns="0" rtlCol="0" anchor="t">
            <a:spAutoFit/>
          </a:bodyPr>
          <a:lstStyle/>
          <a:p>
            <a:pPr algn="l">
              <a:lnSpc>
                <a:spcPts val="3636"/>
              </a:lnSpc>
              <a:spcBef>
                <a:spcPct val="0"/>
              </a:spcBef>
            </a:pPr>
            <a:r>
              <a:rPr lang="en-US" sz="2597">
                <a:solidFill>
                  <a:srgbClr val="FFFFFF"/>
                </a:solidFill>
                <a:latin typeface="Orgon-Regular"/>
                <a:ea typeface="Orgon-Regular"/>
                <a:cs typeface="Orgon-Regular"/>
                <a:sym typeface="Orgon-Regular"/>
              </a:rPr>
              <a:t>OUTCOME</a:t>
            </a:r>
          </a:p>
        </p:txBody>
      </p:sp>
      <p:sp>
        <p:nvSpPr>
          <p:cNvPr id="21" name="TextBox 21"/>
          <p:cNvSpPr txBox="1"/>
          <p:nvPr/>
        </p:nvSpPr>
        <p:spPr>
          <a:xfrm>
            <a:off x="12333501" y="2756019"/>
            <a:ext cx="3341268" cy="370901"/>
          </a:xfrm>
          <a:prstGeom prst="rect">
            <a:avLst/>
          </a:prstGeom>
        </p:spPr>
        <p:txBody>
          <a:bodyPr lIns="0" tIns="0" rIns="0" bIns="0" rtlCol="0" anchor="t">
            <a:spAutoFit/>
          </a:bodyPr>
          <a:lstStyle/>
          <a:p>
            <a:pPr algn="l">
              <a:lnSpc>
                <a:spcPts val="2656"/>
              </a:lnSpc>
              <a:spcBef>
                <a:spcPct val="0"/>
              </a:spcBef>
            </a:pPr>
            <a:r>
              <a:rPr lang="en-US" sz="1897">
                <a:solidFill>
                  <a:srgbClr val="FFFFFF"/>
                </a:solidFill>
                <a:latin typeface="Orgon-Regular"/>
                <a:ea typeface="Orgon-Regular"/>
                <a:cs typeface="Orgon-Regular"/>
                <a:sym typeface="Orgon-Regular"/>
              </a:rPr>
              <a:t>CONTACT: </a:t>
            </a:r>
          </a:p>
        </p:txBody>
      </p:sp>
      <p:sp>
        <p:nvSpPr>
          <p:cNvPr id="22" name="Freeform 22"/>
          <p:cNvSpPr/>
          <p:nvPr/>
        </p:nvSpPr>
        <p:spPr>
          <a:xfrm>
            <a:off x="2324710" y="2811986"/>
            <a:ext cx="5982417" cy="344692"/>
          </a:xfrm>
          <a:custGeom>
            <a:avLst/>
            <a:gdLst/>
            <a:ahLst/>
            <a:cxnLst/>
            <a:rect l="l" t="t" r="r" b="b"/>
            <a:pathLst>
              <a:path w="5982417" h="344692">
                <a:moveTo>
                  <a:pt x="0" y="0"/>
                </a:moveTo>
                <a:lnTo>
                  <a:pt x="5982417" y="0"/>
                </a:lnTo>
                <a:lnTo>
                  <a:pt x="5982417" y="344691"/>
                </a:lnTo>
                <a:lnTo>
                  <a:pt x="0" y="344691"/>
                </a:lnTo>
                <a:lnTo>
                  <a:pt x="0" y="0"/>
                </a:lnTo>
                <a:close/>
              </a:path>
            </a:pathLst>
          </a:custGeom>
          <a:blipFill>
            <a:blip r:embed="rId13"/>
            <a:stretch>
              <a:fillRect t="-430884" r="-93739" b="-1853448"/>
            </a:stretch>
          </a:blipFill>
        </p:spPr>
        <p:txBody>
          <a:bodyPr/>
          <a:lstStyle/>
          <a:p>
            <a:endParaRPr lang="en-IE"/>
          </a:p>
        </p:txBody>
      </p:sp>
      <p:sp>
        <p:nvSpPr>
          <p:cNvPr id="23" name="Freeform 23"/>
          <p:cNvSpPr/>
          <p:nvPr/>
        </p:nvSpPr>
        <p:spPr>
          <a:xfrm>
            <a:off x="13513090" y="2778427"/>
            <a:ext cx="6723914" cy="371977"/>
          </a:xfrm>
          <a:custGeom>
            <a:avLst/>
            <a:gdLst/>
            <a:ahLst/>
            <a:cxnLst/>
            <a:rect l="l" t="t" r="r" b="b"/>
            <a:pathLst>
              <a:path w="6723914" h="371977">
                <a:moveTo>
                  <a:pt x="0" y="0"/>
                </a:moveTo>
                <a:lnTo>
                  <a:pt x="6723913" y="0"/>
                </a:lnTo>
                <a:lnTo>
                  <a:pt x="6723913" y="371977"/>
                </a:lnTo>
                <a:lnTo>
                  <a:pt x="0" y="371977"/>
                </a:lnTo>
                <a:lnTo>
                  <a:pt x="0" y="0"/>
                </a:lnTo>
                <a:close/>
              </a:path>
            </a:pathLst>
          </a:custGeom>
          <a:blipFill>
            <a:blip r:embed="rId13"/>
            <a:stretch>
              <a:fillRect t="-448767" r="-93739" b="-1934523"/>
            </a:stretch>
          </a:blipFill>
        </p:spPr>
        <p:txBody>
          <a:bodyPr/>
          <a:lstStyle/>
          <a:p>
            <a:endParaRPr lang="en-IE"/>
          </a:p>
        </p:txBody>
      </p:sp>
      <p:sp>
        <p:nvSpPr>
          <p:cNvPr id="24" name="TextBox 24"/>
          <p:cNvSpPr txBox="1"/>
          <p:nvPr/>
        </p:nvSpPr>
        <p:spPr>
          <a:xfrm>
            <a:off x="15677976" y="3275305"/>
            <a:ext cx="3341268" cy="370901"/>
          </a:xfrm>
          <a:prstGeom prst="rect">
            <a:avLst/>
          </a:prstGeom>
        </p:spPr>
        <p:txBody>
          <a:bodyPr lIns="0" tIns="0" rIns="0" bIns="0" rtlCol="0" anchor="t">
            <a:spAutoFit/>
          </a:bodyPr>
          <a:lstStyle/>
          <a:p>
            <a:pPr algn="l">
              <a:lnSpc>
                <a:spcPts val="2656"/>
              </a:lnSpc>
              <a:spcBef>
                <a:spcPct val="0"/>
              </a:spcBef>
            </a:pPr>
            <a:r>
              <a:rPr lang="en-US" sz="1897">
                <a:solidFill>
                  <a:srgbClr val="FFFFFF"/>
                </a:solidFill>
                <a:latin typeface="Orgon-Regular"/>
                <a:ea typeface="Orgon-Regular"/>
                <a:cs typeface="Orgon-Regular"/>
                <a:sym typeface="Orgon-Regular"/>
              </a:rPr>
              <a:t>COUNTY:</a:t>
            </a:r>
          </a:p>
        </p:txBody>
      </p:sp>
      <p:sp>
        <p:nvSpPr>
          <p:cNvPr id="25" name="Freeform 25"/>
          <p:cNvSpPr/>
          <p:nvPr/>
        </p:nvSpPr>
        <p:spPr>
          <a:xfrm>
            <a:off x="16723884" y="3274229"/>
            <a:ext cx="3513120" cy="371977"/>
          </a:xfrm>
          <a:custGeom>
            <a:avLst/>
            <a:gdLst/>
            <a:ahLst/>
            <a:cxnLst/>
            <a:rect l="l" t="t" r="r" b="b"/>
            <a:pathLst>
              <a:path w="3513120" h="371977">
                <a:moveTo>
                  <a:pt x="0" y="0"/>
                </a:moveTo>
                <a:lnTo>
                  <a:pt x="3513119" y="0"/>
                </a:lnTo>
                <a:lnTo>
                  <a:pt x="3513119" y="371976"/>
                </a:lnTo>
                <a:lnTo>
                  <a:pt x="0" y="371976"/>
                </a:lnTo>
                <a:lnTo>
                  <a:pt x="0" y="0"/>
                </a:lnTo>
                <a:close/>
              </a:path>
            </a:pathLst>
          </a:custGeom>
          <a:blipFill>
            <a:blip r:embed="rId13"/>
            <a:stretch>
              <a:fillRect t="-234472" r="-93739" b="-963000"/>
            </a:stretch>
          </a:blipFill>
        </p:spPr>
        <p:txBody>
          <a:bodyPr/>
          <a:lstStyle/>
          <a:p>
            <a:endParaRPr lang="en-IE"/>
          </a:p>
        </p:txBody>
      </p:sp>
      <p:sp>
        <p:nvSpPr>
          <p:cNvPr id="26" name="TextBox 26"/>
          <p:cNvSpPr txBox="1"/>
          <p:nvPr/>
        </p:nvSpPr>
        <p:spPr>
          <a:xfrm>
            <a:off x="911352" y="4894703"/>
            <a:ext cx="8682189" cy="3786229"/>
          </a:xfrm>
          <a:prstGeom prst="rect">
            <a:avLst/>
          </a:prstGeom>
        </p:spPr>
        <p:txBody>
          <a:bodyPr lIns="0" tIns="0" rIns="0" bIns="0" rtlCol="0" anchor="t">
            <a:spAutoFit/>
          </a:bodyPr>
          <a:lstStyle/>
          <a:p>
            <a:pPr>
              <a:lnSpc>
                <a:spcPts val="2656"/>
              </a:lnSpc>
            </a:pPr>
            <a:r>
              <a:rPr lang="en-US" sz="1850" dirty="0" err="1">
                <a:solidFill>
                  <a:srgbClr val="FFFFFF"/>
                </a:solidFill>
                <a:ea typeface="+mn-lt"/>
                <a:cs typeface="+mn-lt"/>
              </a:rPr>
              <a:t>CarePal</a:t>
            </a:r>
            <a:r>
              <a:rPr lang="en-US" sz="1850" dirty="0">
                <a:solidFill>
                  <a:srgbClr val="FFFFFF"/>
                </a:solidFill>
                <a:ea typeface="+mn-lt"/>
                <a:cs typeface="+mn-lt"/>
              </a:rPr>
              <a:t> is a local-first medication coordination app that helps people with high-consequence treatment routines, like transplant patients and their caregivers, stay on top of daily medicines. It combines reminders, calendar management, adherence tracking, and assistant-drafted medication changes with an explicit human review step before anything is applied. The result is a safer bridge between clinical instructions and what actually happens at home, where a missed or misunderstood dose can have serious consequences.</a:t>
            </a:r>
            <a:endParaRPr lang="en-US" dirty="0"/>
          </a:p>
          <a:p>
            <a:pPr algn="l">
              <a:lnSpc>
                <a:spcPts val="2656"/>
              </a:lnSpc>
            </a:pPr>
            <a:endParaRPr lang="en-US" sz="1897" dirty="0">
              <a:solidFill>
                <a:srgbClr val="FFFFFF"/>
              </a:solidFill>
              <a:latin typeface="Orgon-Regular"/>
              <a:ea typeface="Orgon-Regular"/>
              <a:cs typeface="Orgon-Regular"/>
              <a:sym typeface="Orgon-Regular"/>
            </a:endParaRPr>
          </a:p>
          <a:p>
            <a:pPr algn="l">
              <a:lnSpc>
                <a:spcPts val="2656"/>
              </a:lnSpc>
            </a:pPr>
            <a:endParaRPr lang="en-US" sz="1897" dirty="0">
              <a:solidFill>
                <a:srgbClr val="FFFFFF"/>
              </a:solidFill>
              <a:latin typeface="Orgon-Regular"/>
              <a:ea typeface="Orgon-Regular"/>
              <a:cs typeface="Orgon-Regular"/>
              <a:sym typeface="Orgon-Regular"/>
            </a:endParaRPr>
          </a:p>
          <a:p>
            <a:pPr algn="l">
              <a:lnSpc>
                <a:spcPts val="2656"/>
              </a:lnSpc>
            </a:pPr>
            <a:endParaRPr lang="en-US" sz="1897" dirty="0">
              <a:solidFill>
                <a:srgbClr val="FFFFFF"/>
              </a:solidFill>
              <a:latin typeface="Orgon-Regular"/>
              <a:ea typeface="Orgon-Regular"/>
              <a:cs typeface="Orgon-Regular"/>
              <a:sym typeface="Orgon-Regular"/>
            </a:endParaRPr>
          </a:p>
          <a:p>
            <a:pPr algn="l">
              <a:lnSpc>
                <a:spcPts val="2656"/>
              </a:lnSpc>
            </a:pPr>
            <a:endParaRPr lang="en-US" sz="1897" dirty="0">
              <a:solidFill>
                <a:srgbClr val="FFFFFF"/>
              </a:solidFill>
              <a:latin typeface="Orgon-Regular"/>
              <a:ea typeface="Orgon-Regular"/>
              <a:cs typeface="Orgon-Regular"/>
              <a:sym typeface="Orgon-Regular"/>
            </a:endParaRPr>
          </a:p>
          <a:p>
            <a:pPr algn="l">
              <a:lnSpc>
                <a:spcPts val="2656"/>
              </a:lnSpc>
              <a:spcBef>
                <a:spcPct val="0"/>
              </a:spcBef>
            </a:pPr>
            <a:endParaRPr lang="en-US" sz="1897" dirty="0">
              <a:solidFill>
                <a:srgbClr val="FFFFFF"/>
              </a:solidFill>
              <a:latin typeface="Orgon-Regular"/>
              <a:ea typeface="Orgon-Regular"/>
              <a:cs typeface="Orgon-Regular"/>
              <a:sym typeface="Orgon-Regular"/>
            </a:endParaRPr>
          </a:p>
        </p:txBody>
      </p:sp>
      <p:sp>
        <p:nvSpPr>
          <p:cNvPr id="27" name="TextBox 27"/>
          <p:cNvSpPr txBox="1"/>
          <p:nvPr/>
        </p:nvSpPr>
        <p:spPr>
          <a:xfrm>
            <a:off x="11148432" y="4915187"/>
            <a:ext cx="8740865" cy="2399824"/>
          </a:xfrm>
          <a:prstGeom prst="rect">
            <a:avLst/>
          </a:prstGeom>
        </p:spPr>
        <p:txBody>
          <a:bodyPr lIns="0" tIns="0" rIns="0" bIns="0" rtlCol="0" anchor="t">
            <a:spAutoFit/>
          </a:bodyPr>
          <a:lstStyle/>
          <a:p>
            <a:pPr>
              <a:lnSpc>
                <a:spcPts val="2656"/>
              </a:lnSpc>
              <a:spcBef>
                <a:spcPct val="0"/>
              </a:spcBef>
            </a:pPr>
            <a:r>
              <a:rPr lang="en-US" sz="1850" dirty="0">
                <a:solidFill>
                  <a:srgbClr val="FFFFFF"/>
                </a:solidFill>
                <a:ea typeface="+mn-lt"/>
                <a:cs typeface="+mn-lt"/>
              </a:rPr>
              <a:t>The outcome of this project is a more practical and reliable way to support medication adherence for people whose health depends on getting every dose right. It helps reduce confusion, missed medicines, and unsafe schedule changes by giving patients and families one clear place to manage routines, confirm changes, and track what was actually taken. For transplant care in particular, this kind of tool can be a serious support layer: if it helps prevent even one adherence-related rejection, complication, or death, it has created immeasurable value.</a:t>
            </a:r>
            <a:endParaRPr lang="en-US" dirty="0"/>
          </a:p>
        </p:txBody>
      </p:sp>
      <p:sp>
        <p:nvSpPr>
          <p:cNvPr id="28" name="TextBox 28"/>
          <p:cNvSpPr txBox="1"/>
          <p:nvPr/>
        </p:nvSpPr>
        <p:spPr>
          <a:xfrm>
            <a:off x="2642139" y="2784409"/>
            <a:ext cx="1645444" cy="323743"/>
          </a:xfrm>
          <a:prstGeom prst="rect">
            <a:avLst/>
          </a:prstGeom>
        </p:spPr>
        <p:txBody>
          <a:bodyPr lIns="0" tIns="0" rIns="0" bIns="0" rtlCol="0" anchor="t">
            <a:spAutoFit/>
          </a:bodyPr>
          <a:lstStyle/>
          <a:p>
            <a:pPr>
              <a:lnSpc>
                <a:spcPts val="2656"/>
              </a:lnSpc>
              <a:spcBef>
                <a:spcPct val="0"/>
              </a:spcBef>
            </a:pPr>
            <a:r>
              <a:rPr lang="en-US" sz="1850">
                <a:solidFill>
                  <a:srgbClr val="FFFFFF"/>
                </a:solidFill>
                <a:latin typeface="Orgon-Regular"/>
                <a:sym typeface="Orgon-Regular"/>
              </a:rPr>
              <a:t>Tokenizers</a:t>
            </a:r>
            <a:endParaRPr lang="en-US"/>
          </a:p>
        </p:txBody>
      </p:sp>
      <p:sp>
        <p:nvSpPr>
          <p:cNvPr id="29" name="TextBox 29"/>
          <p:cNvSpPr txBox="1"/>
          <p:nvPr/>
        </p:nvSpPr>
        <p:spPr>
          <a:xfrm>
            <a:off x="3932591" y="796220"/>
            <a:ext cx="2096095" cy="370901"/>
          </a:xfrm>
          <a:prstGeom prst="rect">
            <a:avLst/>
          </a:prstGeom>
        </p:spPr>
        <p:txBody>
          <a:bodyPr lIns="0" tIns="0" rIns="0" bIns="0" rtlCol="0" anchor="t">
            <a:spAutoFit/>
          </a:bodyPr>
          <a:lstStyle/>
          <a:p>
            <a:pPr algn="ctr">
              <a:lnSpc>
                <a:spcPts val="2656"/>
              </a:lnSpc>
              <a:spcBef>
                <a:spcPct val="0"/>
              </a:spcBef>
            </a:pPr>
            <a:r>
              <a:rPr lang="en-US" sz="1897">
                <a:solidFill>
                  <a:srgbClr val="FFFFFF"/>
                </a:solidFill>
                <a:latin typeface="Orgon-Regular"/>
                <a:ea typeface="Orgon-Regular"/>
                <a:cs typeface="Orgon-Regular"/>
                <a:sym typeface="Orgon-Regular"/>
              </a:rPr>
              <a:t>Your paragraph text</a:t>
            </a:r>
          </a:p>
        </p:txBody>
      </p:sp>
      <p:sp>
        <p:nvSpPr>
          <p:cNvPr id="30" name="TextBox 30"/>
          <p:cNvSpPr txBox="1"/>
          <p:nvPr/>
        </p:nvSpPr>
        <p:spPr>
          <a:xfrm>
            <a:off x="13734843" y="2742168"/>
            <a:ext cx="5340552" cy="322268"/>
          </a:xfrm>
          <a:prstGeom prst="rect">
            <a:avLst/>
          </a:prstGeom>
        </p:spPr>
        <p:txBody>
          <a:bodyPr wrap="square" lIns="0" tIns="0" rIns="0" bIns="0" rtlCol="0" anchor="t">
            <a:spAutoFit/>
          </a:bodyPr>
          <a:lstStyle/>
          <a:p>
            <a:pPr>
              <a:lnSpc>
                <a:spcPts val="2656"/>
              </a:lnSpc>
              <a:spcBef>
                <a:spcPct val="0"/>
              </a:spcBef>
            </a:pPr>
            <a:r>
              <a:rPr lang="en-US" sz="1850" dirty="0">
                <a:solidFill>
                  <a:srgbClr val="FFFFFF"/>
                </a:solidFill>
                <a:latin typeface="Orgon-Regular"/>
                <a:sym typeface="Orgon-Regular"/>
              </a:rPr>
              <a:t>Cillian Myles myles.cillian</a:t>
            </a:r>
            <a:r>
              <a:rPr lang="en-US" sz="1850">
                <a:solidFill>
                  <a:srgbClr val="FFFFFF"/>
                </a:solidFill>
                <a:latin typeface="Orgon-Regular"/>
                <a:sym typeface="Orgon-Regular"/>
              </a:rPr>
              <a:t>@gmail.com</a:t>
            </a:r>
            <a:endParaRPr lang="en-US"/>
          </a:p>
        </p:txBody>
      </p:sp>
      <p:sp>
        <p:nvSpPr>
          <p:cNvPr id="31" name="TextBox 31"/>
          <p:cNvSpPr txBox="1"/>
          <p:nvPr/>
        </p:nvSpPr>
        <p:spPr>
          <a:xfrm>
            <a:off x="16875046" y="3242490"/>
            <a:ext cx="1946354" cy="323743"/>
          </a:xfrm>
          <a:prstGeom prst="rect">
            <a:avLst/>
          </a:prstGeom>
        </p:spPr>
        <p:txBody>
          <a:bodyPr wrap="square" lIns="0" tIns="0" rIns="0" bIns="0" rtlCol="0" anchor="t">
            <a:spAutoFit/>
          </a:bodyPr>
          <a:lstStyle/>
          <a:p>
            <a:pPr>
              <a:lnSpc>
                <a:spcPts val="2656"/>
              </a:lnSpc>
              <a:spcBef>
                <a:spcPct val="0"/>
              </a:spcBef>
            </a:pPr>
            <a:r>
              <a:rPr lang="en-US" sz="1897" dirty="0">
                <a:solidFill>
                  <a:srgbClr val="FFFFFF"/>
                </a:solidFill>
                <a:latin typeface="Orgon-Regular"/>
                <a:ea typeface="Orgon-Regular"/>
                <a:cs typeface="Orgon-Regular"/>
                <a:sym typeface="Orgon-Regular"/>
              </a:rPr>
              <a:t>Galway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30</Words>
  <Application>Microsoft Office PowerPoint</Application>
  <PresentationFormat>Custom</PresentationFormat>
  <Paragraphs>19</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Challenge 2026 EVENTBRITE</dc:title>
  <cp:lastModifiedBy>Sheila Casey</cp:lastModifiedBy>
  <cp:revision>25</cp:revision>
  <dcterms:created xsi:type="dcterms:W3CDTF">2006-08-16T00:00:00Z</dcterms:created>
  <dcterms:modified xsi:type="dcterms:W3CDTF">2026-04-14T19:55:43Z</dcterms:modified>
  <dc:identifier>DAHDF3iVU7w</dc:identifier>
</cp:coreProperties>
</file>